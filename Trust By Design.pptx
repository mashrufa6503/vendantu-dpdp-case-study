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078B"/>
    <a:srgbClr val="9999FF"/>
    <a:srgbClr val="8312B6"/>
    <a:srgbClr val="FF330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11" autoAdjust="0"/>
    <p:restoredTop sz="94660"/>
  </p:normalViewPr>
  <p:slideViewPr>
    <p:cSldViewPr snapToGrid="0">
      <p:cViewPr varScale="1">
        <p:scale>
          <a:sx n="70" d="100"/>
          <a:sy n="70" d="100"/>
        </p:scale>
        <p:origin x="7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4DEDB-7F0B-52B2-1E4C-CB7057227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F2CA0-E195-8248-6968-819493EA0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4043A-D01F-BA0A-8675-D0BF47F08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24A89-37A1-4831-8F76-14BD050061E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A5102-B413-4531-182D-9486A17D9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17618-5AC1-0C63-8494-04A4CCA04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26DAB-6F50-41BA-9E00-3B674289A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27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E6881-218A-0AA2-C372-A468CAE2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AFE49-2B74-109A-C693-D76A9B63C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4B5A3-E88E-2F23-BE03-72284511F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24A89-37A1-4831-8F76-14BD050061E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41F05-3489-E261-9ECA-50B7E3703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8F596-DD7C-7E68-A599-B782D1654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26DAB-6F50-41BA-9E00-3B674289A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230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273D8-19CA-BC94-D29F-14056E4C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DDFEE-3572-66FE-0918-1A430B9D2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83ACC-CF5A-0635-AA46-3B420FD2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24A89-37A1-4831-8F76-14BD050061E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87E94-C648-D102-855D-DF569FF5A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649EA-FB6E-228D-874B-3A37833F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26DAB-6F50-41BA-9E00-3B674289A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45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44FC8-E22F-E011-0279-25BA2F098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5483A-5EA1-92E4-1215-4F4B3A0D3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95C0D-33D8-1031-2358-CA10255DE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4099B-2380-4E2B-376F-80778FE7B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24A89-37A1-4831-8F76-14BD050061E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14AAA-B1B4-1D6E-948F-F9C7AE280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B637F-4534-825D-2806-882BBF7C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26DAB-6F50-41BA-9E00-3B674289A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992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0406C-0A66-3074-F5B3-7E8EF0411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EEDF-6978-6A75-C922-B56D51A12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AE093-29D1-9F2A-5D5D-29EC60B76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E77B17-D043-23E3-5086-C7660FC70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79A9B-D90E-D05F-F2E6-C57CF533C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E2DBF5-3AD3-C307-EF78-8AE5C514C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24A89-37A1-4831-8F76-14BD050061E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028F24-FEB5-1DEC-40BD-5CC8A7ACD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00BBE4-B8D7-4FC4-8C87-C82D5F05F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26DAB-6F50-41BA-9E00-3B674289A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00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F685E-EA1F-9902-8F31-BD1BDE1EB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FAF94A-EE2E-8CC6-C0C9-88C27C2A8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24A89-37A1-4831-8F76-14BD050061E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FA6198-DA93-577B-F537-4ED56AA32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6191F2-C973-2850-A7A1-588929ACA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26DAB-6F50-41BA-9E00-3B674289A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22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B65390-BA21-1A84-B705-21B4EA656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24A89-37A1-4831-8F76-14BD050061E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07A101-8D59-3953-84D7-7AB88D3AD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11862-FBE9-A993-EC9D-F1ACD7965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26DAB-6F50-41BA-9E00-3B674289A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565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EBA7-85D3-B715-B395-F7B481209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F0D2B-EDD6-B780-7641-E077ED0C1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6F14D-A377-F57D-6A99-59C977FA0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9A7E7-20EB-E859-2A09-17B4114B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24A89-37A1-4831-8F76-14BD050061E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A9E177-6D91-6D35-BA6A-E908CF466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FEB56-D525-377B-2566-546F7C119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26DAB-6F50-41BA-9E00-3B674289A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39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C1C6C-3743-B87E-21AA-3AB2792D5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053B8D-E3BE-23B1-2E8C-AB95F7A48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04672-1BA8-506F-94ED-3DF6DF093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48AF2-5DBE-4397-A3AB-713039C69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24A89-37A1-4831-8F76-14BD050061E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0C3EC-0011-640D-DEE7-1C5544542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16890-A456-FCDF-3389-30535F9A1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26DAB-6F50-41BA-9E00-3B674289A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625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701DD-4D5D-6846-72D4-449CB69C9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C7E0C-5485-A8C1-665A-D4B8D4674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A5307-5572-3731-D545-036D411A8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24A89-37A1-4831-8F76-14BD050061E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15ADE-8E09-D19A-7B7E-08FC5F736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35269-0C0A-BB39-6FEA-FF75A5EC1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26DAB-6F50-41BA-9E00-3B674289A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574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BBB3C0-3BA6-0971-9DD3-F608EDC0DE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DAD48-DE13-57F0-E226-5C6F3594C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BCE11-F259-DF9D-5401-F223DAD94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24A89-37A1-4831-8F76-14BD050061E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5E12B-EDD0-6E16-5ABC-B560A26D8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B3695-1039-0CB6-6EFB-439B3A169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26DAB-6F50-41BA-9E00-3B674289A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331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B75E17-7F28-D7C6-DDAF-AA56797E6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FB8F1-1BEC-3D01-D090-C60097DA0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1F0B2-F179-9945-3957-1BB09FDFF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24A89-37A1-4831-8F76-14BD050061E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BA4D7-F598-6EFB-0FA5-565D22CEE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E9975-EEB1-7EA6-52B4-B6186584C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26DAB-6F50-41BA-9E00-3B674289AD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005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11BAF6C-9D3D-35A1-9C2B-1BBC096A0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63D467B-8432-1DEA-81F7-6AA6950F7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888" y="2130039"/>
            <a:ext cx="6887689" cy="3624223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Designing a DPDP–Complaint Student Data Consent Experience for </a:t>
            </a:r>
            <a:r>
              <a:rPr lang="en-IN" sz="2000" dirty="0" err="1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Vedantu</a:t>
            </a:r>
            <a:endParaRPr lang="en-IN" sz="20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“Product Management Internship Assignment”</a:t>
            </a:r>
          </a:p>
          <a:p>
            <a:pPr algn="l"/>
            <a:r>
              <a:rPr lang="en-US" sz="18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Making privacy simple, transparent, and complaint for every student and parent.</a:t>
            </a:r>
            <a:endParaRPr lang="en-IN" sz="18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5956B8-2217-9B21-F00B-D590833CB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565729" y="480689"/>
            <a:ext cx="9144000" cy="1346899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5207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Trust By Design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725424-B91F-A4D0-D699-20D1A56A441A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47B689-A7F7-1092-1619-3442BDF45A4D}"/>
              </a:ext>
            </a:extLst>
          </p:cNvPr>
          <p:cNvSpPr txBox="1"/>
          <p:nvPr/>
        </p:nvSpPr>
        <p:spPr>
          <a:xfrm>
            <a:off x="486888" y="4671812"/>
            <a:ext cx="782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5207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“Prepared by” </a:t>
            </a:r>
          </a:p>
          <a:p>
            <a:r>
              <a:rPr lang="en-IN" sz="2000" dirty="0">
                <a:solidFill>
                  <a:srgbClr val="5207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Mashrufa Mondal</a:t>
            </a:r>
          </a:p>
        </p:txBody>
      </p:sp>
    </p:spTree>
    <p:extLst>
      <p:ext uri="{BB962C8B-B14F-4D97-AF65-F5344CB8AC3E}">
        <p14:creationId xmlns:p14="http://schemas.microsoft.com/office/powerpoint/2010/main" val="2615023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9B14F349-ABB1-D2E6-AE9B-B72F48D41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1B5D64-4B05-A789-1DBF-85D6392EF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92607"/>
            <a:ext cx="9144000" cy="1111147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5207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499025-1482-78BB-D55D-8FC70FFCE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247" y="611547"/>
            <a:ext cx="7239001" cy="4969612"/>
          </a:xfrm>
        </p:spPr>
        <p:txBody>
          <a:bodyPr/>
          <a:lstStyle/>
          <a:p>
            <a:pPr algn="l"/>
            <a:r>
              <a:rPr lang="en-IN" sz="20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</a:p>
          <a:p>
            <a:pPr algn="l"/>
            <a:r>
              <a:rPr lang="en-IN" sz="1600" dirty="0" err="1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Vedantu</a:t>
            </a: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collects student data to deliver personalized learning experiences, including: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 Records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Recordings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Scores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Learning Recommendations</a:t>
            </a:r>
          </a:p>
          <a:p>
            <a:pPr algn="l"/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parents and students often lack visibility into: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data is collected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is collected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can access it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long it is stored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consent can be withdrawn</a:t>
            </a:r>
            <a:endParaRPr lang="en-IN" sz="16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2867A2D-5EEE-2787-981F-7B227FAD7433}"/>
              </a:ext>
            </a:extLst>
          </p:cNvPr>
          <p:cNvSpPr/>
          <p:nvPr/>
        </p:nvSpPr>
        <p:spPr>
          <a:xfrm>
            <a:off x="7818120" y="1033272"/>
            <a:ext cx="3547872" cy="3776472"/>
          </a:xfrm>
          <a:prstGeom prst="roundRect">
            <a:avLst/>
          </a:prstGeom>
          <a:solidFill>
            <a:srgbClr val="9999FF"/>
          </a:solidFill>
          <a:ln>
            <a:solidFill>
              <a:srgbClr val="7030A0"/>
            </a:solidFill>
          </a:ln>
          <a:effectLst>
            <a:glow rad="101600">
              <a:srgbClr val="9999FF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FCEA8D6-ACC4-18A1-76E7-AD9DA0A5E8A2}"/>
              </a:ext>
            </a:extLst>
          </p:cNvPr>
          <p:cNvCxnSpPr/>
          <p:nvPr/>
        </p:nvCxnSpPr>
        <p:spPr>
          <a:xfrm>
            <a:off x="9582910" y="1991058"/>
            <a:ext cx="0" cy="29260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83C1AA-1CF4-5564-3E4F-BD720C6B2AA9}"/>
              </a:ext>
            </a:extLst>
          </p:cNvPr>
          <p:cNvCxnSpPr/>
          <p:nvPr/>
        </p:nvCxnSpPr>
        <p:spPr>
          <a:xfrm>
            <a:off x="10744748" y="3136392"/>
            <a:ext cx="0" cy="29260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922478-1FCF-7760-9574-E756D6F8EB35}"/>
              </a:ext>
            </a:extLst>
          </p:cNvPr>
          <p:cNvCxnSpPr/>
          <p:nvPr/>
        </p:nvCxnSpPr>
        <p:spPr>
          <a:xfrm>
            <a:off x="9592055" y="3136392"/>
            <a:ext cx="0" cy="29260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C300AD-3415-387B-7E07-E7632902E024}"/>
              </a:ext>
            </a:extLst>
          </p:cNvPr>
          <p:cNvCxnSpPr/>
          <p:nvPr/>
        </p:nvCxnSpPr>
        <p:spPr>
          <a:xfrm>
            <a:off x="8541717" y="3136392"/>
            <a:ext cx="0" cy="29260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44579D1-B6D6-2114-433A-074263449F05}"/>
              </a:ext>
            </a:extLst>
          </p:cNvPr>
          <p:cNvSpPr txBox="1"/>
          <p:nvPr/>
        </p:nvSpPr>
        <p:spPr>
          <a:xfrm>
            <a:off x="8906878" y="1567209"/>
            <a:ext cx="13520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Student Data</a:t>
            </a:r>
            <a:endParaRPr lang="en-I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F52632-2FB0-B30F-B775-FF7DE1E1D68D}"/>
              </a:ext>
            </a:extLst>
          </p:cNvPr>
          <p:cNvSpPr txBox="1"/>
          <p:nvPr/>
        </p:nvSpPr>
        <p:spPr>
          <a:xfrm>
            <a:off x="8343905" y="3556670"/>
            <a:ext cx="1078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endParaRPr lang="en-I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413E10-5A8C-D442-48D3-BAA52736A1E7}"/>
              </a:ext>
            </a:extLst>
          </p:cNvPr>
          <p:cNvSpPr txBox="1"/>
          <p:nvPr/>
        </p:nvSpPr>
        <p:spPr>
          <a:xfrm>
            <a:off x="8755177" y="2377314"/>
            <a:ext cx="20804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Vedantu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Platform</a:t>
            </a:r>
            <a:endParaRPr lang="en-I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41661F-FBB9-62A0-5787-9EC6474E3C82}"/>
              </a:ext>
            </a:extLst>
          </p:cNvPr>
          <p:cNvSpPr txBox="1"/>
          <p:nvPr/>
        </p:nvSpPr>
        <p:spPr>
          <a:xfrm>
            <a:off x="9215630" y="3556671"/>
            <a:ext cx="1078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Teacher</a:t>
            </a:r>
            <a:endParaRPr lang="en-I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552EFC-F350-A580-9883-D3484A66EFA3}"/>
              </a:ext>
            </a:extLst>
          </p:cNvPr>
          <p:cNvSpPr txBox="1"/>
          <p:nvPr/>
        </p:nvSpPr>
        <p:spPr>
          <a:xfrm>
            <a:off x="10498062" y="3556670"/>
            <a:ext cx="1078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endParaRPr lang="en-I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585063-481C-A227-FB94-8EDE67106B21}"/>
              </a:ext>
            </a:extLst>
          </p:cNvPr>
          <p:cNvCxnSpPr/>
          <p:nvPr/>
        </p:nvCxnSpPr>
        <p:spPr>
          <a:xfrm>
            <a:off x="8541717" y="3138140"/>
            <a:ext cx="22030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8F01B61-4783-0C6C-A38F-49BCCA4EB73E}"/>
              </a:ext>
            </a:extLst>
          </p:cNvPr>
          <p:cNvCxnSpPr/>
          <p:nvPr/>
        </p:nvCxnSpPr>
        <p:spPr>
          <a:xfrm>
            <a:off x="9592055" y="2788920"/>
            <a:ext cx="0" cy="3474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78D1099-AE4C-4B61-F2B4-D1FE9BFA9577}"/>
              </a:ext>
            </a:extLst>
          </p:cNvPr>
          <p:cNvSpPr/>
          <p:nvPr/>
        </p:nvSpPr>
        <p:spPr>
          <a:xfrm>
            <a:off x="493776" y="5401293"/>
            <a:ext cx="11283696" cy="901391"/>
          </a:xfrm>
          <a:prstGeom prst="roundRect">
            <a:avLst/>
          </a:prstGeom>
          <a:solidFill>
            <a:srgbClr val="9999FF"/>
          </a:solidFill>
          <a:ln>
            <a:solidFill>
              <a:srgbClr val="8312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Challenge: How might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Vedantu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a transparent, parent-friendly consent experience that complies with India's DPDP Act, 2023 while keeping onboarding simple and frictionless?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881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46F94-BBB3-25F2-8C21-24D356D4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AAC6B0-C819-7521-2455-06CB72A8D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6E8AB1-156C-DC8F-D45B-DDDF724BD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92607"/>
            <a:ext cx="9144000" cy="111114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5207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User</a:t>
            </a:r>
            <a:endParaRPr lang="en-IN" sz="2800" dirty="0">
              <a:solidFill>
                <a:srgbClr val="5207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5D386A-04E0-82B3-2583-82FB334CD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247" y="818540"/>
            <a:ext cx="7239001" cy="589315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sz="20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Persona</a:t>
            </a:r>
          </a:p>
          <a:p>
            <a:pPr algn="l"/>
            <a:endParaRPr lang="en-IN" sz="2000" b="1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Priya Sharma</a:t>
            </a:r>
          </a:p>
          <a:p>
            <a:pPr algn="l"/>
            <a:r>
              <a:rPr lang="en-IN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Age: 38</a:t>
            </a:r>
          </a:p>
          <a:p>
            <a:pPr algn="l"/>
            <a:r>
              <a:rPr lang="en-IN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Role: Parent of a Grade 8 student</a:t>
            </a:r>
          </a:p>
          <a:p>
            <a:pPr algn="l"/>
            <a:r>
              <a:rPr lang="en-IN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Occupation: Working Professional</a:t>
            </a:r>
          </a:p>
          <a:p>
            <a:pPr algn="l"/>
            <a:r>
              <a:rPr lang="en-IN" sz="17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</a:p>
          <a:p>
            <a:pPr algn="l"/>
            <a:r>
              <a:rPr lang="en-IN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✔️ Keep my child's data safe</a:t>
            </a:r>
          </a:p>
          <a:p>
            <a:pPr algn="l"/>
            <a:r>
              <a:rPr lang="en-IN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✔️ Understand why </a:t>
            </a:r>
            <a:r>
              <a:rPr lang="en-IN" sz="1700" dirty="0" err="1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Vedantu</a:t>
            </a:r>
            <a:r>
              <a:rPr lang="en-IN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collects data</a:t>
            </a:r>
          </a:p>
          <a:p>
            <a:pPr algn="l"/>
            <a:r>
              <a:rPr lang="en-IN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✔️ Easily manage my consent</a:t>
            </a:r>
          </a:p>
          <a:p>
            <a:pPr algn="l"/>
            <a:r>
              <a:rPr lang="en-IN" sz="17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Pain Points</a:t>
            </a:r>
          </a:p>
          <a:p>
            <a:pPr algn="l"/>
            <a:r>
              <a:rPr lang="en-IN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Privacy policies are difficult to understand</a:t>
            </a:r>
          </a:p>
          <a:p>
            <a:pPr algn="l"/>
            <a:r>
              <a:rPr lang="en-IN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No clear visibility into data collection</a:t>
            </a:r>
          </a:p>
          <a:p>
            <a:pPr algn="l"/>
            <a:r>
              <a:rPr lang="en-IN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Unsure who can access my child's information</a:t>
            </a:r>
          </a:p>
          <a:p>
            <a:pPr algn="l"/>
            <a:endParaRPr lang="en-IN" sz="17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7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Needs:</a:t>
            </a:r>
          </a:p>
          <a:p>
            <a:pPr algn="l"/>
            <a:r>
              <a:rPr lang="en-US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🛡️ Transparency: Tell me what data is collected and why.</a:t>
            </a:r>
          </a:p>
          <a:p>
            <a:pPr algn="l"/>
            <a:r>
              <a:rPr lang="en-US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⚙️ Control: Let me manage my consent anytime.</a:t>
            </a:r>
          </a:p>
          <a:p>
            <a:pPr algn="l"/>
            <a:r>
              <a:rPr lang="en-US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🤝 Trust: Keep my child's information secure.</a:t>
            </a:r>
            <a:endParaRPr lang="en-IN" sz="17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6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58DA439-7056-D97B-A624-8805ACE40F57}"/>
              </a:ext>
            </a:extLst>
          </p:cNvPr>
          <p:cNvSpPr/>
          <p:nvPr/>
        </p:nvSpPr>
        <p:spPr>
          <a:xfrm>
            <a:off x="7818120" y="1033272"/>
            <a:ext cx="3547872" cy="5184648"/>
          </a:xfrm>
          <a:prstGeom prst="roundRect">
            <a:avLst/>
          </a:prstGeom>
          <a:solidFill>
            <a:srgbClr val="9999FF"/>
          </a:solidFill>
          <a:ln>
            <a:solidFill>
              <a:srgbClr val="7030A0"/>
            </a:solidFill>
          </a:ln>
          <a:effectLst>
            <a:glow rad="101600">
              <a:srgbClr val="9999FF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Parent</a:t>
            </a:r>
          </a:p>
          <a:p>
            <a:endParaRPr lang="en-US" dirty="0"/>
          </a:p>
          <a:p>
            <a:r>
              <a:rPr lang="en-US" dirty="0"/>
              <a:t>Priya Sharma</a:t>
            </a:r>
          </a:p>
          <a:p>
            <a:r>
              <a:rPr lang="en-US" dirty="0"/>
              <a:t>Age: 38</a:t>
            </a:r>
          </a:p>
          <a:p>
            <a:endParaRPr lang="en-US" dirty="0"/>
          </a:p>
          <a:p>
            <a:r>
              <a:rPr lang="en-US" dirty="0"/>
              <a:t>Tech Comfort:⭐⭐⭐⭐☆</a:t>
            </a:r>
          </a:p>
          <a:p>
            <a:r>
              <a:rPr lang="en-US" dirty="0"/>
              <a:t>Trust Level:⭐⭐⭐☆☆</a:t>
            </a:r>
          </a:p>
          <a:p>
            <a:endParaRPr lang="en-US" dirty="0"/>
          </a:p>
          <a:p>
            <a:r>
              <a:rPr lang="en-US" dirty="0"/>
              <a:t>Uses </a:t>
            </a:r>
            <a:r>
              <a:rPr lang="en-US" dirty="0" err="1"/>
              <a:t>Vedantu</a:t>
            </a:r>
            <a:r>
              <a:rPr lang="en-US" dirty="0"/>
              <a:t>: Daily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2157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BD9BB-4665-F29E-36A5-7CD4C5E2C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E7B38AC8-8268-4843-4E7F-FBF76C75F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3" y="-78828"/>
            <a:ext cx="12191999" cy="70156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F9FA1B-CC92-70F9-50A4-FBD2DAB5B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92607"/>
            <a:ext cx="9144000" cy="111114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5207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Current Experience</a:t>
            </a:r>
            <a:endParaRPr lang="en-IN" sz="2800" dirty="0">
              <a:solidFill>
                <a:srgbClr val="5207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779B5-25AB-4399-7D1B-5E113E6B7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247" y="2732690"/>
            <a:ext cx="6551339" cy="3092037"/>
          </a:xfrm>
        </p:spPr>
        <p:txBody>
          <a:bodyPr/>
          <a:lstStyle/>
          <a:p>
            <a:pPr algn="l"/>
            <a:r>
              <a:rPr lang="en-US" sz="20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Pain Points:</a:t>
            </a:r>
          </a:p>
          <a:p>
            <a:pPr algn="l"/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 Low Transparency: </a:t>
            </a:r>
          </a:p>
          <a:p>
            <a:pPr algn="l"/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Parents don't know what data is collected.</a:t>
            </a:r>
          </a:p>
          <a:p>
            <a:pPr algn="l"/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One-time Consent: </a:t>
            </a:r>
          </a:p>
          <a:p>
            <a:pPr algn="l"/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Consent is taken once and is difficult to review or withdraw.</a:t>
            </a:r>
          </a:p>
          <a:p>
            <a:pPr algn="l"/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 Limited User Control:</a:t>
            </a:r>
          </a:p>
          <a:p>
            <a:pPr algn="l"/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No centralized Privacy Dashboard to manage permissions.</a:t>
            </a:r>
            <a:endParaRPr lang="en-IN" sz="16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AAF725B-8E97-68E4-B5C8-9C27CFDD1572}"/>
              </a:ext>
            </a:extLst>
          </p:cNvPr>
          <p:cNvSpPr/>
          <p:nvPr/>
        </p:nvSpPr>
        <p:spPr>
          <a:xfrm>
            <a:off x="493776" y="1033272"/>
            <a:ext cx="11283695" cy="1399032"/>
          </a:xfrm>
          <a:prstGeom prst="roundRect">
            <a:avLst/>
          </a:prstGeom>
          <a:solidFill>
            <a:srgbClr val="9999FF"/>
          </a:solidFill>
          <a:ln>
            <a:solidFill>
              <a:srgbClr val="7030A0"/>
            </a:solidFill>
          </a:ln>
          <a:effectLst>
            <a:glow rad="101600">
              <a:srgbClr val="9999FF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Signs Up      Accepts Terms &amp;Privacy Policy        Data Collected        Personalized Learning        No Easy Consent Control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55FBE43-7224-905B-FF91-1ED177EDCC94}"/>
              </a:ext>
            </a:extLst>
          </p:cNvPr>
          <p:cNvSpPr/>
          <p:nvPr/>
        </p:nvSpPr>
        <p:spPr>
          <a:xfrm>
            <a:off x="7847832" y="3049204"/>
            <a:ext cx="3850392" cy="2657513"/>
          </a:xfrm>
          <a:prstGeom prst="roundRect">
            <a:avLst/>
          </a:prstGeom>
          <a:solidFill>
            <a:srgbClr val="FF0000">
              <a:alpha val="56078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DPDP Compliance Gaps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privacy 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consent 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easy consent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withdrawalNo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consent history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7A788E-3CA3-2D37-0036-842DFFC768F8}"/>
              </a:ext>
            </a:extLst>
          </p:cNvPr>
          <p:cNvCxnSpPr/>
          <p:nvPr/>
        </p:nvCxnSpPr>
        <p:spPr>
          <a:xfrm>
            <a:off x="2281344" y="1748291"/>
            <a:ext cx="20116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3F534C-7F79-36E3-F868-B50346AD7AB8}"/>
              </a:ext>
            </a:extLst>
          </p:cNvPr>
          <p:cNvCxnSpPr/>
          <p:nvPr/>
        </p:nvCxnSpPr>
        <p:spPr>
          <a:xfrm>
            <a:off x="5185964" y="1746504"/>
            <a:ext cx="20116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DAD3BC-1ABE-E4BE-A2F1-19BB52D5355B}"/>
              </a:ext>
            </a:extLst>
          </p:cNvPr>
          <p:cNvCxnSpPr/>
          <p:nvPr/>
        </p:nvCxnSpPr>
        <p:spPr>
          <a:xfrm>
            <a:off x="6827035" y="1746504"/>
            <a:ext cx="20116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42AA980-D2B4-4C28-2958-40BE6B274A8F}"/>
              </a:ext>
            </a:extLst>
          </p:cNvPr>
          <p:cNvCxnSpPr/>
          <p:nvPr/>
        </p:nvCxnSpPr>
        <p:spPr>
          <a:xfrm>
            <a:off x="9062449" y="1762046"/>
            <a:ext cx="20116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395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CBD6A-0665-1FD8-FF62-0838F91A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A9DA6965-5508-0C2C-42F7-9BE8137AB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51BF28-7999-4C54-EDB8-EF4AEE3CB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92607"/>
            <a:ext cx="9144000" cy="1111147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5207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AFD949-6445-B0A4-868F-8EEF9C6CD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289" y="1003850"/>
            <a:ext cx="2883229" cy="4784301"/>
          </a:xfrm>
        </p:spPr>
        <p:txBody>
          <a:bodyPr/>
          <a:lstStyle/>
          <a:p>
            <a:r>
              <a:rPr lang="en-IN" sz="20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Privacy Dashboard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collected data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purpose of data collection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permissions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 personal data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account/request data deletion</a:t>
            </a:r>
          </a:p>
          <a:p>
            <a:pPr algn="l"/>
            <a:endParaRPr lang="en-IN" sz="16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CD4A4F2-41D0-B34D-B53D-2EB01AE40017}"/>
              </a:ext>
            </a:extLst>
          </p:cNvPr>
          <p:cNvSpPr/>
          <p:nvPr/>
        </p:nvSpPr>
        <p:spPr>
          <a:xfrm>
            <a:off x="631723" y="4850295"/>
            <a:ext cx="10928551" cy="1699039"/>
          </a:xfrm>
          <a:prstGeom prst="roundRect">
            <a:avLst/>
          </a:prstGeom>
          <a:solidFill>
            <a:srgbClr val="9999FF"/>
          </a:solidFill>
          <a:ln>
            <a:solidFill>
              <a:srgbClr val="7030A0"/>
            </a:solidFill>
          </a:ln>
          <a:effectLst>
            <a:glow rad="101600">
              <a:srgbClr val="9999FF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Benefits 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               Parent – Friendly                    DPDP Complaint                  Easy to Update Anytime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D01B811-EA08-A147-EDD3-5C4D365113BA}"/>
              </a:ext>
            </a:extLst>
          </p:cNvPr>
          <p:cNvSpPr txBox="1">
            <a:spLocks/>
          </p:cNvSpPr>
          <p:nvPr/>
        </p:nvSpPr>
        <p:spPr>
          <a:xfrm>
            <a:off x="4100555" y="1003852"/>
            <a:ext cx="3519445" cy="478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Granular Consent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 of one "Accept All" button, parents can choose: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 Data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Scores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Recommendations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Emails</a:t>
            </a:r>
          </a:p>
          <a:p>
            <a:pPr algn="l"/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consent can be turned ON/OFF independently.</a:t>
            </a:r>
            <a:endParaRPr lang="en-IN" sz="16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B6E2035-BB1C-4445-5371-627D346F48AB}"/>
              </a:ext>
            </a:extLst>
          </p:cNvPr>
          <p:cNvSpPr txBox="1">
            <a:spLocks/>
          </p:cNvSpPr>
          <p:nvPr/>
        </p:nvSpPr>
        <p:spPr>
          <a:xfrm>
            <a:off x="8178779" y="1003850"/>
            <a:ext cx="3519445" cy="4784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Consent Timeline</a:t>
            </a:r>
          </a:p>
          <a:p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 Up</a:t>
            </a:r>
          </a:p>
          <a:p>
            <a:endParaRPr lang="en-US" sz="16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Parent Verification</a:t>
            </a:r>
          </a:p>
          <a:p>
            <a:endParaRPr lang="en-US" sz="16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Data Permissions </a:t>
            </a:r>
          </a:p>
          <a:p>
            <a:endParaRPr lang="en-US" sz="16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 Begins</a:t>
            </a:r>
          </a:p>
          <a:p>
            <a:endParaRPr lang="en-US" sz="16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Dashboard Available Anytime</a:t>
            </a:r>
          </a:p>
          <a:p>
            <a:pPr algn="l"/>
            <a:endParaRPr lang="en-US" sz="2000" b="1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3A561A-3131-34EB-575C-D02BA14DD37B}"/>
              </a:ext>
            </a:extLst>
          </p:cNvPr>
          <p:cNvCxnSpPr>
            <a:cxnSpLocks/>
          </p:cNvCxnSpPr>
          <p:nvPr/>
        </p:nvCxnSpPr>
        <p:spPr>
          <a:xfrm>
            <a:off x="9866786" y="1748688"/>
            <a:ext cx="0" cy="24542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2FF0F9-A89C-7912-2DCF-0C893749B98E}"/>
              </a:ext>
            </a:extLst>
          </p:cNvPr>
          <p:cNvCxnSpPr>
            <a:cxnSpLocks/>
          </p:cNvCxnSpPr>
          <p:nvPr/>
        </p:nvCxnSpPr>
        <p:spPr>
          <a:xfrm>
            <a:off x="9862790" y="2460660"/>
            <a:ext cx="0" cy="24542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52EBE9-2AB6-FADD-04BB-642FA9BB89DA}"/>
              </a:ext>
            </a:extLst>
          </p:cNvPr>
          <p:cNvCxnSpPr>
            <a:cxnSpLocks/>
          </p:cNvCxnSpPr>
          <p:nvPr/>
        </p:nvCxnSpPr>
        <p:spPr>
          <a:xfrm>
            <a:off x="9862790" y="3116400"/>
            <a:ext cx="0" cy="24542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569E85-EB5A-F197-1640-AF867614C576}"/>
              </a:ext>
            </a:extLst>
          </p:cNvPr>
          <p:cNvCxnSpPr>
            <a:cxnSpLocks/>
          </p:cNvCxnSpPr>
          <p:nvPr/>
        </p:nvCxnSpPr>
        <p:spPr>
          <a:xfrm>
            <a:off x="9862790" y="3835028"/>
            <a:ext cx="0" cy="24542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54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938FA-52CC-A05F-5D73-7E3A77B45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5D6F6E02-D139-AC92-E8B7-C55EDCC1D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7655"/>
            <a:ext cx="12231622" cy="70156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993883-DEA8-D2AC-7414-1C2544A9E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33777"/>
            <a:ext cx="9144000" cy="615112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5207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Measuring Success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65BB3C-D858-E7C4-E5CA-5F2F44F80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805" y="4820223"/>
            <a:ext cx="11159042" cy="1898629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sz="29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 Criteria</a:t>
            </a:r>
          </a:p>
          <a:p>
            <a:pPr algn="l"/>
            <a:r>
              <a:rPr lang="en-US" sz="21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is successful if it: </a:t>
            </a:r>
          </a:p>
          <a:p>
            <a:pPr algn="l"/>
            <a:r>
              <a:rPr lang="en-US" sz="21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Increases parent trust.</a:t>
            </a:r>
          </a:p>
          <a:p>
            <a:pPr algn="l"/>
            <a:r>
              <a:rPr lang="en-US" sz="21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Meets DPDP compliance requirements.</a:t>
            </a:r>
          </a:p>
          <a:p>
            <a:pPr algn="l"/>
            <a:r>
              <a:rPr lang="en-US" sz="21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Maintains a smooth onboarding experience.</a:t>
            </a:r>
          </a:p>
          <a:p>
            <a:pPr algn="l"/>
            <a:r>
              <a:rPr lang="en-US" sz="21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transparency without reducing student enrollment.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09554AA-C1E5-4236-8050-90115C22CE8D}"/>
              </a:ext>
            </a:extLst>
          </p:cNvPr>
          <p:cNvSpPr/>
          <p:nvPr/>
        </p:nvSpPr>
        <p:spPr>
          <a:xfrm>
            <a:off x="454152" y="833225"/>
            <a:ext cx="11283695" cy="1111147"/>
          </a:xfrm>
          <a:prstGeom prst="roundRect">
            <a:avLst/>
          </a:prstGeom>
          <a:solidFill>
            <a:srgbClr val="9999FF"/>
          </a:solidFill>
          <a:ln>
            <a:solidFill>
              <a:srgbClr val="7030A0"/>
            </a:solidFill>
          </a:ln>
          <a:effectLst>
            <a:glow rad="101600">
              <a:srgbClr val="9999FF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001B1C-0F29-629F-B873-C8B7DA9C41D0}"/>
              </a:ext>
            </a:extLst>
          </p:cNvPr>
          <p:cNvSpPr txBox="1"/>
          <p:nvPr/>
        </p:nvSpPr>
        <p:spPr>
          <a:xfrm>
            <a:off x="711194" y="1160715"/>
            <a:ext cx="2502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North Star Metric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09220-3D19-09D4-1C15-724997C360CE}"/>
              </a:ext>
            </a:extLst>
          </p:cNvPr>
          <p:cNvSpPr txBox="1"/>
          <p:nvPr/>
        </p:nvSpPr>
        <p:spPr>
          <a:xfrm>
            <a:off x="3783625" y="1065632"/>
            <a:ext cx="7832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active student accounts with valid, up-to-date parental consent.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Target: 95% within 3 months of launch.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9EB61E-6931-0EB6-C701-1E816A1C219E}"/>
              </a:ext>
            </a:extLst>
          </p:cNvPr>
          <p:cNvCxnSpPr>
            <a:cxnSpLocks/>
          </p:cNvCxnSpPr>
          <p:nvPr/>
        </p:nvCxnSpPr>
        <p:spPr>
          <a:xfrm>
            <a:off x="3289851" y="1086735"/>
            <a:ext cx="0" cy="6041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C413C37-0FFC-60D4-8054-9AE2B36AD0B5}"/>
              </a:ext>
            </a:extLst>
          </p:cNvPr>
          <p:cNvSpPr/>
          <p:nvPr/>
        </p:nvSpPr>
        <p:spPr>
          <a:xfrm>
            <a:off x="473963" y="2120504"/>
            <a:ext cx="11283695" cy="1111147"/>
          </a:xfrm>
          <a:prstGeom prst="roundRect">
            <a:avLst/>
          </a:prstGeom>
          <a:solidFill>
            <a:srgbClr val="00B0F0"/>
          </a:solidFill>
          <a:ln>
            <a:solidFill>
              <a:srgbClr val="0070C0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4229CC-E13C-45E0-10D9-29D0FA37150E}"/>
              </a:ext>
            </a:extLst>
          </p:cNvPr>
          <p:cNvSpPr/>
          <p:nvPr/>
        </p:nvSpPr>
        <p:spPr>
          <a:xfrm>
            <a:off x="454152" y="3444162"/>
            <a:ext cx="11283695" cy="111114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glow rad="101600">
              <a:srgbClr val="9999FF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AC2709-66D1-8A37-81C2-1B64102C58F8}"/>
              </a:ext>
            </a:extLst>
          </p:cNvPr>
          <p:cNvSpPr txBox="1"/>
          <p:nvPr/>
        </p:nvSpPr>
        <p:spPr>
          <a:xfrm>
            <a:off x="787393" y="2402955"/>
            <a:ext cx="2502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Supporting Metrics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2F34AE-E115-1D19-DD03-BAEEF387EEF0}"/>
              </a:ext>
            </a:extLst>
          </p:cNvPr>
          <p:cNvCxnSpPr>
            <a:cxnSpLocks/>
          </p:cNvCxnSpPr>
          <p:nvPr/>
        </p:nvCxnSpPr>
        <p:spPr>
          <a:xfrm>
            <a:off x="3289850" y="2374014"/>
            <a:ext cx="0" cy="6041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37C9B89-2E64-EB1A-77B4-96D05B072031}"/>
              </a:ext>
            </a:extLst>
          </p:cNvPr>
          <p:cNvSpPr txBox="1"/>
          <p:nvPr/>
        </p:nvSpPr>
        <p:spPr>
          <a:xfrm>
            <a:off x="3783625" y="2203805"/>
            <a:ext cx="7832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Consent completion rate → 90%+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Dashboard usage → 40% of parents/month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deletion &amp; download requests resolved within 7 days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2056B4-E0B7-60CA-9D51-C784B0857364}"/>
              </a:ext>
            </a:extLst>
          </p:cNvPr>
          <p:cNvSpPr txBox="1"/>
          <p:nvPr/>
        </p:nvSpPr>
        <p:spPr>
          <a:xfrm>
            <a:off x="758675" y="3754355"/>
            <a:ext cx="2502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Guardrail Metrics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0FF8252-2119-DD8A-A7F4-65A042BF492C}"/>
              </a:ext>
            </a:extLst>
          </p:cNvPr>
          <p:cNvCxnSpPr>
            <a:cxnSpLocks/>
          </p:cNvCxnSpPr>
          <p:nvPr/>
        </p:nvCxnSpPr>
        <p:spPr>
          <a:xfrm>
            <a:off x="3261132" y="3652347"/>
            <a:ext cx="0" cy="6041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297BC96-03FA-27FC-4C04-49177847451D}"/>
              </a:ext>
            </a:extLst>
          </p:cNvPr>
          <p:cNvSpPr txBox="1"/>
          <p:nvPr/>
        </p:nvSpPr>
        <p:spPr>
          <a:xfrm>
            <a:off x="3715284" y="3538070"/>
            <a:ext cx="7832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Onboarding drop-off should remain below 5%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Privacy-related support tickets should decrease by 30%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Parent satisfaction (CSAT) for privacy experience should reach 4.5/5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448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6FBD2-8FBF-66BF-2322-527AF4C64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816DD62A-0A4F-2EC2-CF5B-96C774024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70156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FC1070-86F0-5451-C200-DB80638CF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92607"/>
            <a:ext cx="9144000" cy="1111147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5207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Diagnostic Thinking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F578C5-CE18-36B7-3B1B-BBFEB38CD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3095" y="936551"/>
            <a:ext cx="10935129" cy="1994644"/>
          </a:xfrm>
        </p:spPr>
        <p:txBody>
          <a:bodyPr/>
          <a:lstStyle/>
          <a:p>
            <a:pPr algn="l"/>
            <a:r>
              <a:rPr lang="en-US" sz="20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</a:t>
            </a:r>
          </a:p>
          <a:p>
            <a:pPr algn="l"/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weeks after launch, the North Star Metric drops by 15%, even though no major product release happened.</a:t>
            </a:r>
          </a:p>
          <a:p>
            <a:pPr algn="l"/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Question: What happened, and how would we investigate it?</a:t>
            </a:r>
          </a:p>
          <a:p>
            <a:pPr algn="l"/>
            <a:endParaRPr lang="en-US" sz="16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 Tree</a:t>
            </a:r>
            <a:endParaRPr lang="en-IN" sz="2000" b="1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887C18-1721-1F85-7004-CF5A16087C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994" y="2170589"/>
            <a:ext cx="6649278" cy="28028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BAC643-DFC3-2F18-F8CB-7C160D0144D6}"/>
              </a:ext>
            </a:extLst>
          </p:cNvPr>
          <p:cNvSpPr txBox="1"/>
          <p:nvPr/>
        </p:nvSpPr>
        <p:spPr>
          <a:xfrm>
            <a:off x="695042" y="4737223"/>
            <a:ext cx="6197046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5207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to </a:t>
            </a:r>
            <a:r>
              <a:rPr lang="en-IN" sz="2000" b="1" dirty="0" err="1">
                <a:solidFill>
                  <a:srgbClr val="5207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endParaRPr lang="en-IN" sz="2000" b="1" dirty="0">
              <a:solidFill>
                <a:srgbClr val="5207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5207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rgbClr val="5207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5207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Consent completion by platform (Android/iOS/Web)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5207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Funnel drop-off by onboarding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5207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Parent verification success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5207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dashboard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5207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logs and support tickets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E1A0B7-A885-E40A-EC9C-D3EFCA892CE3}"/>
              </a:ext>
            </a:extLst>
          </p:cNvPr>
          <p:cNvSpPr txBox="1"/>
          <p:nvPr/>
        </p:nvSpPr>
        <p:spPr>
          <a:xfrm>
            <a:off x="6689995" y="4819668"/>
            <a:ext cx="619704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Steps </a:t>
            </a:r>
          </a:p>
          <a:p>
            <a:endParaRPr lang="en-IN" sz="16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root cause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back if it's a technical issue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user interviews if it's a UX issue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metrics daily after the fix</a:t>
            </a:r>
          </a:p>
        </p:txBody>
      </p:sp>
    </p:spTree>
    <p:extLst>
      <p:ext uri="{BB962C8B-B14F-4D97-AF65-F5344CB8AC3E}">
        <p14:creationId xmlns:p14="http://schemas.microsoft.com/office/powerpoint/2010/main" val="2522957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05376-5369-7DEF-AAC4-08DE327FC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69CA9B-2954-1478-B28C-0B73237B8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2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3C2B40-0F13-589B-B7FB-238CA44E5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92607"/>
            <a:ext cx="9144000" cy="1111147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5207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C3B65B0-017A-DBAA-7CFD-BBC0CB3C9BB2}"/>
              </a:ext>
            </a:extLst>
          </p:cNvPr>
          <p:cNvSpPr/>
          <p:nvPr/>
        </p:nvSpPr>
        <p:spPr>
          <a:xfrm>
            <a:off x="618875" y="1186070"/>
            <a:ext cx="5043116" cy="2176669"/>
          </a:xfrm>
          <a:prstGeom prst="roundRect">
            <a:avLst/>
          </a:prstGeom>
          <a:solidFill>
            <a:srgbClr val="9999FF"/>
          </a:solidFill>
          <a:ln>
            <a:solidFill>
              <a:srgbClr val="7030A0"/>
            </a:solidFill>
          </a:ln>
          <a:effectLst>
            <a:glow rad="101600">
              <a:srgbClr val="9999FF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KPI</a:t>
            </a:r>
          </a:p>
          <a:p>
            <a:pPr algn="ctr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 Star Metric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Parent Consent Rate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94%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(Target: 95%)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676573-C467-566E-21EC-8CE5BF3084F9}"/>
              </a:ext>
            </a:extLst>
          </p:cNvPr>
          <p:cNvSpPr/>
          <p:nvPr/>
        </p:nvSpPr>
        <p:spPr>
          <a:xfrm>
            <a:off x="6592624" y="4022035"/>
            <a:ext cx="5043116" cy="2176669"/>
          </a:xfrm>
          <a:prstGeom prst="roundRect">
            <a:avLst/>
          </a:prstGeom>
          <a:solidFill>
            <a:srgbClr val="9999FF"/>
          </a:solidFill>
          <a:ln>
            <a:solidFill>
              <a:srgbClr val="7030A0"/>
            </a:solidFill>
          </a:ln>
          <a:effectLst>
            <a:glow rad="101600">
              <a:srgbClr val="9999FF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Platform: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	Consent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	95%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	93%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	91%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C92B27-416A-C5E9-3896-D3DAC45E5AD2}"/>
              </a:ext>
            </a:extLst>
          </p:cNvPr>
          <p:cNvSpPr/>
          <p:nvPr/>
        </p:nvSpPr>
        <p:spPr>
          <a:xfrm>
            <a:off x="618875" y="3945835"/>
            <a:ext cx="5043116" cy="2176669"/>
          </a:xfrm>
          <a:prstGeom prst="roundRect">
            <a:avLst/>
          </a:prstGeom>
          <a:solidFill>
            <a:srgbClr val="9999FF"/>
          </a:solidFill>
          <a:ln>
            <a:solidFill>
              <a:srgbClr val="7030A0"/>
            </a:solidFill>
          </a:ln>
          <a:effectLst>
            <a:glow rad="101600">
              <a:srgbClr val="9999FF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Metrics</a:t>
            </a:r>
          </a:p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Consent Completion: 92%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Dashboard Usage: 43%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Requests Resolved: 96%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 CSAT: 4.6 / 5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D50CA63-8314-0C31-5F19-0C6EFC387218}"/>
              </a:ext>
            </a:extLst>
          </p:cNvPr>
          <p:cNvSpPr/>
          <p:nvPr/>
        </p:nvSpPr>
        <p:spPr>
          <a:xfrm>
            <a:off x="6592624" y="1186070"/>
            <a:ext cx="5043116" cy="2176669"/>
          </a:xfrm>
          <a:prstGeom prst="roundRect">
            <a:avLst/>
          </a:prstGeom>
          <a:solidFill>
            <a:srgbClr val="9999FF"/>
          </a:solidFill>
          <a:ln>
            <a:solidFill>
              <a:srgbClr val="7030A0"/>
            </a:solidFill>
          </a:ln>
          <a:effectLst>
            <a:glow rad="101600">
              <a:srgbClr val="9999FF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Over Time 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Consent Rate (Last 4 Weeks)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 ▂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 ▅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 ▇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4 █</a:t>
            </a:r>
          </a:p>
        </p:txBody>
      </p:sp>
    </p:spTree>
    <p:extLst>
      <p:ext uri="{BB962C8B-B14F-4D97-AF65-F5344CB8AC3E}">
        <p14:creationId xmlns:p14="http://schemas.microsoft.com/office/powerpoint/2010/main" val="3051876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9F303-8D7D-86EE-38D3-85022DE32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2826E3-CAB5-AFFB-C046-1E33B2B04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8008C3-8DB4-AB0E-DDBD-18D97C16A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92607"/>
            <a:ext cx="9144000" cy="1111147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5207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Rollout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0D52D-4EE8-9AE3-6DB2-E4B46F7F4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247" y="818540"/>
            <a:ext cx="7239001" cy="394034"/>
          </a:xfrm>
        </p:spPr>
        <p:txBody>
          <a:bodyPr>
            <a:normAutofit/>
          </a:bodyPr>
          <a:lstStyle/>
          <a:p>
            <a:pPr algn="l"/>
            <a:r>
              <a:rPr lang="en-IN" sz="20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</a:p>
          <a:p>
            <a:pPr algn="l"/>
            <a:endParaRPr lang="en-IN" sz="17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6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886DE87-E1B0-79E6-5E55-782A8D462C2F}"/>
              </a:ext>
            </a:extLst>
          </p:cNvPr>
          <p:cNvSpPr/>
          <p:nvPr/>
        </p:nvSpPr>
        <p:spPr>
          <a:xfrm>
            <a:off x="648247" y="1371600"/>
            <a:ext cx="10895506" cy="751397"/>
          </a:xfrm>
          <a:prstGeom prst="roundRect">
            <a:avLst/>
          </a:prstGeom>
          <a:solidFill>
            <a:srgbClr val="9999FF"/>
          </a:solidFill>
          <a:ln>
            <a:solidFill>
              <a:srgbClr val="7030A0"/>
            </a:solidFill>
          </a:ln>
          <a:effectLst>
            <a:glow rad="101600">
              <a:srgbClr val="9999FF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→ Pilot → Validate → Full Launch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ED9431-FA93-ABCA-CCC1-06D7B8F416E5}"/>
              </a:ext>
            </a:extLst>
          </p:cNvPr>
          <p:cNvSpPr txBox="1"/>
          <p:nvPr/>
        </p:nvSpPr>
        <p:spPr>
          <a:xfrm>
            <a:off x="440355" y="2302801"/>
            <a:ext cx="26142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Design (Week 1–2)</a:t>
            </a:r>
          </a:p>
          <a:p>
            <a:r>
              <a:rPr lang="en-IN" sz="16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&amp;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Finalize Privacy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new consent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QA testing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3B4A2D-CA81-204C-03DF-48057E02ACDF}"/>
              </a:ext>
            </a:extLst>
          </p:cNvPr>
          <p:cNvSpPr txBox="1"/>
          <p:nvPr/>
        </p:nvSpPr>
        <p:spPr>
          <a:xfrm>
            <a:off x="5853321" y="2329541"/>
            <a:ext cx="265706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– Validate (Week 5)</a:t>
            </a:r>
          </a:p>
          <a:p>
            <a:r>
              <a:rPr lang="en-IN" sz="16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North Star Metric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onboarding drop-off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support tickets &amp; CSAT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636F3E-2CDA-18FF-B034-3A23A1252EAD}"/>
              </a:ext>
            </a:extLst>
          </p:cNvPr>
          <p:cNvSpPr txBox="1"/>
          <p:nvPr/>
        </p:nvSpPr>
        <p:spPr>
          <a:xfrm>
            <a:off x="8859907" y="2316525"/>
            <a:ext cx="28917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 – Full Launch (Week 6)</a:t>
            </a:r>
          </a:p>
          <a:p>
            <a:r>
              <a:rPr lang="en-IN" sz="16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Rollout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Launch to all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 monitoring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Weekly compliance review</a:t>
            </a:r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F4F348-F25B-CD55-C0BF-9E4F5F7D6A64}"/>
              </a:ext>
            </a:extLst>
          </p:cNvPr>
          <p:cNvSpPr txBox="1"/>
          <p:nvPr/>
        </p:nvSpPr>
        <p:spPr>
          <a:xfrm>
            <a:off x="3125443" y="2282023"/>
            <a:ext cx="265706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– Pilot (Week 3–4)</a:t>
            </a:r>
          </a:p>
          <a:p>
            <a:r>
              <a:rPr lang="en-IN" sz="16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Rollout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 to 10% of new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feedback from parents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consent completion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7E3CA56-2CF2-A5F0-7604-F5CDB10C0B66}"/>
              </a:ext>
            </a:extLst>
          </p:cNvPr>
          <p:cNvCxnSpPr/>
          <p:nvPr/>
        </p:nvCxnSpPr>
        <p:spPr>
          <a:xfrm>
            <a:off x="3048002" y="2302801"/>
            <a:ext cx="0" cy="2176669"/>
          </a:xfrm>
          <a:prstGeom prst="line">
            <a:avLst/>
          </a:prstGeom>
          <a:ln>
            <a:solidFill>
              <a:srgbClr val="52078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21ED4C5-4DDD-3FF2-5387-858A79A0AE5E}"/>
              </a:ext>
            </a:extLst>
          </p:cNvPr>
          <p:cNvCxnSpPr/>
          <p:nvPr/>
        </p:nvCxnSpPr>
        <p:spPr>
          <a:xfrm>
            <a:off x="5782504" y="2302801"/>
            <a:ext cx="0" cy="2176669"/>
          </a:xfrm>
          <a:prstGeom prst="line">
            <a:avLst/>
          </a:prstGeom>
          <a:ln>
            <a:solidFill>
              <a:srgbClr val="52078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F113535-91B8-922C-6114-6C497EC73E87}"/>
              </a:ext>
            </a:extLst>
          </p:cNvPr>
          <p:cNvCxnSpPr/>
          <p:nvPr/>
        </p:nvCxnSpPr>
        <p:spPr>
          <a:xfrm>
            <a:off x="8700054" y="2321258"/>
            <a:ext cx="0" cy="2176669"/>
          </a:xfrm>
          <a:prstGeom prst="line">
            <a:avLst/>
          </a:prstGeom>
          <a:ln>
            <a:solidFill>
              <a:srgbClr val="52078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2637154-743D-50E9-3265-D63C48EB20BF}"/>
              </a:ext>
            </a:extLst>
          </p:cNvPr>
          <p:cNvSpPr/>
          <p:nvPr/>
        </p:nvSpPr>
        <p:spPr>
          <a:xfrm>
            <a:off x="648247" y="4636734"/>
            <a:ext cx="11030226" cy="1991582"/>
          </a:xfrm>
          <a:prstGeom prst="roundRect">
            <a:avLst/>
          </a:prstGeom>
          <a:solidFill>
            <a:srgbClr val="9999FF"/>
          </a:solidFill>
          <a:ln>
            <a:solidFill>
              <a:srgbClr val="7030A0"/>
            </a:solidFill>
          </a:ln>
          <a:effectLst>
            <a:glow rad="101600">
              <a:srgbClr val="9999FF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 Testing Approach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Test only UI elements such as: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 text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layout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text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Do not A/B test legal compliance features (such as whether consent is required), because these must remain consistent for all users.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524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E8BD0-0AB5-111E-4C70-3465B1639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F4CB1B99-1BD4-79F5-DC47-BBD26D689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025F78-D50A-C0A5-A60E-5AADD4AC3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92607"/>
            <a:ext cx="9144000" cy="1111147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5207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Risks and Trade-offs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888006-9800-7BA0-A22C-BEA80E544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546" y="1246872"/>
            <a:ext cx="5603105" cy="3601542"/>
          </a:xfrm>
        </p:spPr>
        <p:txBody>
          <a:bodyPr>
            <a:normAutofit fontScale="92500" lnSpcReduction="20000"/>
          </a:bodyPr>
          <a:lstStyle/>
          <a:p>
            <a:r>
              <a:rPr lang="en-IN" sz="20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Risks </a:t>
            </a:r>
          </a:p>
          <a:p>
            <a:pPr algn="l"/>
            <a:r>
              <a:rPr lang="en-US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🛠️ Engineering Complexity</a:t>
            </a:r>
          </a:p>
          <a:p>
            <a:pPr algn="l"/>
            <a:r>
              <a:rPr lang="en-US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a Privacy Dashboard, consent logs, and parent verification requires additional development effort.</a:t>
            </a:r>
          </a:p>
          <a:p>
            <a:pPr algn="l"/>
            <a:r>
              <a:rPr lang="en-US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📉 Business Impact</a:t>
            </a:r>
          </a:p>
          <a:p>
            <a:pPr algn="l"/>
            <a:r>
              <a:rPr lang="en-US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Adding consent steps may slightly reduce onboarding conversion in the short term.</a:t>
            </a:r>
          </a:p>
          <a:p>
            <a:pPr algn="l"/>
            <a:r>
              <a:rPr lang="en-US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👥 User Adoption</a:t>
            </a:r>
          </a:p>
          <a:p>
            <a:pPr algn="l"/>
            <a:r>
              <a:rPr lang="en-US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parents may skip or misunderstand privacy settings, requiring clearer guidance.</a:t>
            </a:r>
          </a:p>
          <a:p>
            <a:pPr algn="l"/>
            <a:r>
              <a:rPr lang="en-US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 Edge Cases</a:t>
            </a:r>
          </a:p>
          <a:p>
            <a:pPr algn="l"/>
            <a:r>
              <a:rPr lang="en-US" sz="17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consent withdrawal, child accounts, and data deletion requests increases operational complexity.</a:t>
            </a:r>
            <a:endParaRPr lang="en-IN" sz="1700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6D6FEDC-2EEA-3508-0D6B-EBCC2589CF10}"/>
              </a:ext>
            </a:extLst>
          </p:cNvPr>
          <p:cNvSpPr/>
          <p:nvPr/>
        </p:nvSpPr>
        <p:spPr>
          <a:xfrm>
            <a:off x="864704" y="4769482"/>
            <a:ext cx="10575236" cy="936374"/>
          </a:xfrm>
          <a:prstGeom prst="roundRect">
            <a:avLst/>
          </a:prstGeom>
          <a:solidFill>
            <a:srgbClr val="9999FF"/>
          </a:solidFill>
          <a:ln>
            <a:solidFill>
              <a:srgbClr val="7030A0"/>
            </a:solidFill>
          </a:ln>
          <a:effectLst>
            <a:glow rad="101600">
              <a:srgbClr val="9999FF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Takeaway</a:t>
            </a:r>
          </a:p>
          <a:p>
            <a:pPr algn="ctr"/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should not feel like a legal obligation—it should feel like a product feature that builds trust. By making consent transparent, granular, and easy to manage,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Vedantu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strengthen parent confidence while remaining fully compliant with India's DPDP Act, 2023.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9A6A0EA-8B0E-4B5D-4757-A05C79B734E1}"/>
              </a:ext>
            </a:extLst>
          </p:cNvPr>
          <p:cNvSpPr txBox="1">
            <a:spLocks/>
          </p:cNvSpPr>
          <p:nvPr/>
        </p:nvSpPr>
        <p:spPr>
          <a:xfrm>
            <a:off x="6539949" y="987137"/>
            <a:ext cx="5227982" cy="3601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 dirty="0">
              <a:solidFill>
                <a:srgbClr val="8312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Trade-offs</a:t>
            </a:r>
          </a:p>
          <a:p>
            <a:pPr algn="l"/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Accepted Trade-offs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Prioritize trust over faster onboarding.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only necessary personal data.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manage consent anytime.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full DPDP compliance, even if it adds an extra onboarding step</a:t>
            </a:r>
            <a:r>
              <a:rPr lang="en-US" sz="20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7A1B4E-06D2-6553-7FD5-0C5A63B75F2A}"/>
              </a:ext>
            </a:extLst>
          </p:cNvPr>
          <p:cNvSpPr txBox="1"/>
          <p:nvPr/>
        </p:nvSpPr>
        <p:spPr>
          <a:xfrm>
            <a:off x="2997475" y="899058"/>
            <a:ext cx="619704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>
                <a:solidFill>
                  <a:srgbClr val="8312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E8C70F-763B-0699-0346-A51BF1313F1E}"/>
              </a:ext>
            </a:extLst>
          </p:cNvPr>
          <p:cNvCxnSpPr/>
          <p:nvPr/>
        </p:nvCxnSpPr>
        <p:spPr>
          <a:xfrm>
            <a:off x="6261651" y="1510748"/>
            <a:ext cx="0" cy="3200400"/>
          </a:xfrm>
          <a:prstGeom prst="line">
            <a:avLst/>
          </a:prstGeom>
          <a:ln>
            <a:solidFill>
              <a:srgbClr val="52078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3F8E71-3B21-8E89-BA26-FB95A5A1D5AE}"/>
              </a:ext>
            </a:extLst>
          </p:cNvPr>
          <p:cNvSpPr/>
          <p:nvPr/>
        </p:nvSpPr>
        <p:spPr>
          <a:xfrm>
            <a:off x="514669" y="5870863"/>
            <a:ext cx="11237578" cy="804257"/>
          </a:xfrm>
          <a:prstGeom prst="roundRect">
            <a:avLst/>
          </a:prstGeom>
          <a:solidFill>
            <a:srgbClr val="52078B"/>
          </a:solidFill>
          <a:ln>
            <a:solidFill>
              <a:srgbClr val="9999FF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Prototype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</a:rPr>
              <a:t>https://www.figma.com/proto/99Z7IQkUMrQziNEGUtalQ7/Untitled?page-id=0%3A1&amp;node-id=1-2&amp;viewport=-409%2C156%2C0.53&amp;t=ZlWSYzJaHjdUqtDz-1&amp;scaling=scale-down&amp;content-scaling=fixed</a:t>
            </a:r>
          </a:p>
        </p:txBody>
      </p:sp>
    </p:spTree>
    <p:extLst>
      <p:ext uri="{BB962C8B-B14F-4D97-AF65-F5344CB8AC3E}">
        <p14:creationId xmlns:p14="http://schemas.microsoft.com/office/powerpoint/2010/main" val="3568122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1061</Words>
  <Application>Microsoft Office PowerPoint</Application>
  <PresentationFormat>Widescreen</PresentationFormat>
  <Paragraphs>214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Trust By Design</vt:lpstr>
      <vt:lpstr>Problem Statement</vt:lpstr>
      <vt:lpstr>Understanding The User</vt:lpstr>
      <vt:lpstr>Current Experience</vt:lpstr>
      <vt:lpstr>Proposed Solution</vt:lpstr>
      <vt:lpstr>Measuring Success</vt:lpstr>
      <vt:lpstr>Diagnostic Thinking</vt:lpstr>
      <vt:lpstr>Dashboard design</vt:lpstr>
      <vt:lpstr>Rollout Plan</vt:lpstr>
      <vt:lpstr>Risks and Trade-offs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Mashrufa Mondal</dc:creator>
  <cp:lastModifiedBy>Mashrufa Mondal</cp:lastModifiedBy>
  <cp:revision>6</cp:revision>
  <dcterms:created xsi:type="dcterms:W3CDTF">2026-07-04T16:40:34Z</dcterms:created>
  <dcterms:modified xsi:type="dcterms:W3CDTF">2026-07-05T18:11:18Z</dcterms:modified>
</cp:coreProperties>
</file>